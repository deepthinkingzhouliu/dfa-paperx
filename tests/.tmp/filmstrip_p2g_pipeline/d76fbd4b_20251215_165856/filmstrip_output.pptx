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943100" y="1628775"/>
            <a:ext cx="514350" cy="3143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1943100" y="1943100"/>
            <a:ext cx="514350" cy="4286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829050" y="1943100"/>
            <a:ext cx="51435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5486400" y="1514475"/>
            <a:ext cx="571500" cy="4286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29500" y="1514475"/>
            <a:ext cx="628650" cy="4286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4914900" y="2028825"/>
            <a:ext cx="1828800" cy="25717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7486650" y="800100"/>
            <a:ext cx="514350" cy="15716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86900" y="800100"/>
            <a:ext cx="714375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429750" y="1943100"/>
            <a:ext cx="57150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687050" y="1600200"/>
            <a:ext cx="1943100" cy="57150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300" y="1657350"/>
            <a:ext cx="13544550" cy="314325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373100" y="1943100"/>
            <a:ext cx="51435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716250" y="1943100"/>
            <a:ext cx="514350" cy="0"/>
          </a:xfrm>
          <a:prstGeom prst="bentConnector3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1500" y="1285875"/>
            <a:ext cx="13716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Expert Dataset</a:t>
            </a:r>
            <a:br/>
            <a:r>
              <a:t>D_expert</a:t>
            </a:r>
            <a:br/>
            <a:r>
              <a:t>(s_i, a_i)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2143125"/>
            <a:ext cx="1371600" cy="45720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Initial LLM Policy</a:t>
            </a:r>
            <a:br/>
            <a:r>
              <a:t>(π₀)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57450" y="1714500"/>
            <a:ext cx="1371600" cy="457200"/>
          </a:xfrm>
          <a:prstGeom prst="roundRect">
            <a:avLst/>
          </a:prstGeom>
          <a:solidFill>
            <a:srgbClr val="66C2A5"/>
          </a:solidFill>
          <a:ln w="19050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Candidate Action Sampler</a:t>
            </a:r>
            <a:br/>
            <a:r>
              <a:t>Sample K Alternatives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600200"/>
            <a:ext cx="1143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6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333333"/>
                </a:solidFill>
                <a:latin typeface="Arial"/>
              </a:defRPr>
            </a:pPr>
            <a:r>
              <a:t>Environment</a:t>
            </a:r>
            <a:br/>
            <a:r>
              <a:t>Rollouts (Env)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57900" y="1171575"/>
            <a:ext cx="1371600" cy="685800"/>
          </a:xfrm>
          <a:prstGeom prst="rect">
            <a:avLst/>
          </a:prstGeom>
          <a:solidFill>
            <a:srgbClr val="F4F6F8"/>
          </a:solidFill>
          <a:ln w="15875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Future-State Signals</a:t>
            </a:r>
            <a:br/>
            <a:r>
              <a:t>s_{i+1}  vs  s_i^j</a:t>
            </a:r>
            <a:br/>
            <a:r>
              <a:t>(supervision)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00750" y="2028825"/>
            <a:ext cx="14859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Rollout Dataset</a:t>
            </a:r>
            <a:br/>
            <a:r>
              <a:t>D_rollout</a:t>
            </a:r>
            <a:br/>
            <a:r>
              <a:t>(s_i, a_i^j, s_i^j)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571500"/>
            <a:ext cx="1485900" cy="457200"/>
          </a:xfrm>
          <a:prstGeom prst="roundRect">
            <a:avLst/>
          </a:prstGeom>
          <a:solidFill>
            <a:srgbClr val="8DA0CB"/>
          </a:solidFill>
          <a:ln w="19050">
            <a:solidFill>
              <a:srgbClr val="5C6C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IWM Branch</a:t>
            </a:r>
            <a:br/>
            <a:r>
              <a:t>Predict Future State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58150" y="1543050"/>
            <a:ext cx="1371600" cy="800100"/>
          </a:xfrm>
          <a:prstGeom prst="rect">
            <a:avLst/>
          </a:prstGeom>
          <a:solidFill>
            <a:srgbClr val="4A90D9"/>
          </a:solidFill>
          <a:ln w="1905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Expert vs Candidate</a:t>
            </a:r>
            <a:br/>
            <a:r>
              <a:t>Comparator</a:t>
            </a:r>
            <a:br/>
            <a:r>
              <a:t>(Compare Outcomes)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01275" y="628650"/>
            <a:ext cx="971550" cy="342900"/>
          </a:xfrm>
          <a:prstGeom prst="roundRect">
            <a:avLst/>
          </a:prstGeom>
          <a:solidFill>
            <a:srgbClr val="E41A1C"/>
          </a:solidFill>
          <a:ln w="15875">
            <a:solidFill>
              <a:srgbClr val="A3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NLL Loss</a:t>
            </a:r>
            <a:br/>
            <a:r>
              <a:t>(Dynamics)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1250" y="1714500"/>
            <a:ext cx="1371600" cy="457200"/>
          </a:xfrm>
          <a:prstGeom prst="roundRect">
            <a:avLst/>
          </a:prstGeom>
          <a:solidFill>
            <a:srgbClr val="FC8D62"/>
          </a:solidFill>
          <a:ln w="19050">
            <a:solidFill>
              <a:srgbClr val="C86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SR Branch</a:t>
            </a:r>
            <a:br/>
            <a:r>
              <a:t>Generate c_i^j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0" y="1600200"/>
            <a:ext cx="14859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6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Reflection Dataset</a:t>
            </a:r>
            <a:br/>
            <a:r>
              <a:t>D_refl</a:t>
            </a:r>
            <a:br/>
            <a:r>
              <a:t>(s_i, a_i^j, c_i^j)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887450" y="1657350"/>
            <a:ext cx="1828800" cy="571500"/>
          </a:xfrm>
          <a:prstGeom prst="roundRect">
            <a:avLst/>
          </a:prstGeom>
          <a:solidFill>
            <a:srgbClr val="4A90D9"/>
          </a:solidFill>
          <a:ln w="25400">
            <a:solidFill>
              <a:srgbClr val="2E5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Joint Supervised Training</a:t>
            </a:r>
            <a:br/>
            <a:r>
              <a:t>(Action + Reflection)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230600" y="1714500"/>
            <a:ext cx="1485900" cy="457200"/>
          </a:xfrm>
          <a:prstGeom prst="roundRect">
            <a:avLst/>
          </a:prstGeom>
          <a:solidFill>
            <a:srgbClr val="66C2A5"/>
          </a:solidFill>
          <a:ln w="22225">
            <a:solidFill>
              <a:srgbClr val="3A7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 i="0">
                <a:solidFill>
                  <a:srgbClr val="FFFFFF"/>
                </a:solidFill>
                <a:latin typeface="Arial"/>
              </a:defRPr>
            </a:pPr>
            <a:r>
              <a:t>Updated LLM Policy</a:t>
            </a:r>
            <a:br/>
            <a:r>
              <a:t>(π)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