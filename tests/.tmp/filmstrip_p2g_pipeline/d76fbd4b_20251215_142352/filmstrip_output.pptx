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28825" y="2452687"/>
            <a:ext cx="600075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219575" y="2443162"/>
            <a:ext cx="723900" cy="95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543675" y="1928812"/>
            <a:ext cx="733425" cy="5143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00162" y="2847975"/>
            <a:ext cx="2119313" cy="952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81475" y="3205162"/>
            <a:ext cx="638175" cy="5143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001125" y="985837"/>
            <a:ext cx="638175" cy="94297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229975" y="985837"/>
            <a:ext cx="733425" cy="5048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687425" y="1490662"/>
            <a:ext cx="762000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049625" y="1490662"/>
            <a:ext cx="666750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677025" y="3205162"/>
            <a:ext cx="657225" cy="5143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934450" y="2014537"/>
            <a:ext cx="666750" cy="11906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00162" y="2524125"/>
            <a:ext cx="11530013" cy="3238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258550" y="2014537"/>
            <a:ext cx="609600" cy="8048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92200" y="2819400"/>
            <a:ext cx="600075" cy="1328737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71500" y="2057400"/>
            <a:ext cx="1457325" cy="790575"/>
          </a:xfrm>
          <a:prstGeom prst="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Expert Dataset D_expert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075" y="3057525"/>
            <a:ext cx="1390650" cy="523875"/>
          </a:xfrm>
          <a:prstGeom prst="round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333333"/>
                </a:solidFill>
                <a:latin typeface="Arial"/>
              </a:defRPr>
            </a:pPr>
            <a:r>
              <a:t>Environment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28900" y="2171700"/>
            <a:ext cx="1590675" cy="561975"/>
          </a:xfrm>
          <a:prstGeom prst="round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333333"/>
                </a:solidFill>
                <a:latin typeface="Arial"/>
              </a:defRPr>
            </a:pPr>
            <a:r>
              <a:t>Initial LLM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7475" y="2943225"/>
            <a:ext cx="1524000" cy="523875"/>
          </a:xfrm>
          <a:prstGeom prst="round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Expert Action Rollout</a:t>
            </a:r>
          </a:p>
        </p:txBody>
      </p:sp>
      <p:pic>
        <p:nvPicPr>
          <p:cNvPr id="20" name="Picture 19" descr="n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475" y="1648684"/>
            <a:ext cx="1600200" cy="1588957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819650" y="3438525"/>
            <a:ext cx="1857375" cy="561975"/>
          </a:xfrm>
          <a:prstGeom prst="round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Self-Reflection Generator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7100" y="1647825"/>
            <a:ext cx="1724025" cy="561975"/>
          </a:xfrm>
          <a:prstGeom prst="round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Alt Action Rollouts</a:t>
            </a:r>
          </a:p>
        </p:txBody>
      </p:sp>
      <p:pic>
        <p:nvPicPr>
          <p:cNvPr id="23" name="Picture 22" descr="n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0" y="2410684"/>
            <a:ext cx="1600200" cy="158895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639300" y="571500"/>
            <a:ext cx="1590675" cy="828675"/>
          </a:xfrm>
          <a:prstGeom prst="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Rollout Dataset D_rollout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600200"/>
            <a:ext cx="1657350" cy="828675"/>
          </a:xfrm>
          <a:prstGeom prst="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Reflection Dataset D_refl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963400" y="1209675"/>
            <a:ext cx="1724025" cy="561975"/>
          </a:xfrm>
          <a:prstGeom prst="round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Implicit World Modeling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68150" y="2524125"/>
            <a:ext cx="1924050" cy="590550"/>
          </a:xfrm>
          <a:prstGeom prst="round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Joint Training Objective</a:t>
            </a:r>
          </a:p>
        </p:txBody>
      </p:sp>
      <p:pic>
        <p:nvPicPr>
          <p:cNvPr id="28" name="Picture 27" descr="n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9425" y="698040"/>
            <a:ext cx="1600200" cy="158524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4392275" y="3867150"/>
            <a:ext cx="1724025" cy="561975"/>
          </a:xfrm>
          <a:prstGeom prst="roundRect">
            <a:avLst/>
          </a:prstGeom>
          <a:solidFill>
            <a:srgbClr val="D9E9F8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333333"/>
                </a:solidFill>
                <a:latin typeface="Arial"/>
              </a:defRPr>
            </a:pPr>
            <a:r>
              <a:t>Updated LLM Policy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716375" y="1200150"/>
            <a:ext cx="990600" cy="590550"/>
          </a:xfrm>
          <a:prstGeom prst="roundRect">
            <a:avLst/>
          </a:prstGeom>
          <a:solidFill>
            <a:srgbClr val="FBE2D7"/>
          </a:solidFill>
          <a:ln w="19050">
            <a:solidFill>
              <a:srgbClr val="C6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NLL Loss (IWM)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