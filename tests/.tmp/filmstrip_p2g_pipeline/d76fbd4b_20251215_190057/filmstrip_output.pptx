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638300" y="1876425"/>
            <a:ext cx="361950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19400" y="1876425"/>
            <a:ext cx="371475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71950" y="1876425"/>
            <a:ext cx="381000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781675" y="1876425"/>
            <a:ext cx="371475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134225" y="1876425"/>
            <a:ext cx="571500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134225" y="1062037"/>
            <a:ext cx="371475" cy="814388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810625" y="1057275"/>
            <a:ext cx="371475" cy="4762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248900" y="1057275"/>
            <a:ext cx="371475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515725" y="1057275"/>
            <a:ext cx="381000" cy="4762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592300" y="1057275"/>
            <a:ext cx="695325" cy="4762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153400" y="1714500"/>
            <a:ext cx="1562100" cy="30480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58162" y="1285875"/>
            <a:ext cx="1557338" cy="42862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163175" y="1876425"/>
            <a:ext cx="590550" cy="4762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382375" y="1876425"/>
            <a:ext cx="1323975" cy="4762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04900" y="2162175"/>
            <a:ext cx="14511337" cy="29527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239750" y="2162175"/>
            <a:ext cx="2376487" cy="29527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6268700" y="2695575"/>
            <a:ext cx="371475" cy="4762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71500" y="1590675"/>
            <a:ext cx="1066800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Expert Dataset</a:t>
            </a:r>
            <a:br/>
            <a:r>
              <a:t>D_expert</a:t>
            </a:r>
            <a:br/>
            <a:br/>
            <a:r>
              <a:t>s_i   |   a_i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00250" y="1733550"/>
            <a:ext cx="819150" cy="285750"/>
          </a:xfrm>
          <a:prstGeom prst="roundRect">
            <a:avLst/>
          </a:prstGeom>
          <a:solidFill>
            <a:srgbClr val="EEF5FD"/>
          </a:solidFill>
          <a:ln w="15875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Expert State</a:t>
            </a:r>
            <a:br/>
            <a:r>
              <a:t>s_i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90875" y="1714500"/>
            <a:ext cx="981075" cy="323850"/>
          </a:xfrm>
          <a:prstGeom prst="roundRect">
            <a:avLst/>
          </a:prstGeom>
          <a:solidFill>
            <a:srgbClr val="4A90D9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Initial LLM Policy π0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52950" y="1695450"/>
            <a:ext cx="1228725" cy="361950"/>
          </a:xfrm>
          <a:prstGeom prst="roundRect">
            <a:avLst/>
          </a:prstGeom>
          <a:solidFill>
            <a:srgbClr val="FFF3EC"/>
          </a:solidFill>
          <a:ln w="15875">
            <a:solidFill>
              <a:srgbClr val="C96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K Alternative Actions</a:t>
            </a:r>
            <a:br/>
            <a:r>
              <a:t>[a_i^1   a_i^2   …   a_i^K]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150" y="1714500"/>
            <a:ext cx="981075" cy="32385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Environment</a:t>
            </a:r>
            <a:br/>
            <a:r>
              <a:t>Simulator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05725" y="1733550"/>
            <a:ext cx="895350" cy="28575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Expert Next State</a:t>
            </a:r>
            <a:br/>
            <a:r>
              <a:t>s_{i+1}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05700" y="838200"/>
            <a:ext cx="1304925" cy="44767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2E5A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Alt Next States</a:t>
            </a:r>
            <a:br/>
            <a:r>
              <a:t>[s_i^1  s_i^2  …]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2100" y="771525"/>
            <a:ext cx="1066800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Rollout Triples</a:t>
            </a:r>
            <a:br/>
            <a:r>
              <a:t>D_rollout</a:t>
            </a:r>
            <a:br/>
            <a:br/>
            <a:r>
              <a:t>(s, a, s′)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67825" y="1714500"/>
            <a:ext cx="895350" cy="3238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6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333333"/>
                </a:solidFill>
                <a:latin typeface="Arial"/>
              </a:defRPr>
            </a:pPr>
            <a:r>
              <a:t>SR Branch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20375" y="895350"/>
            <a:ext cx="895350" cy="323850"/>
          </a:xfrm>
          <a:prstGeom prst="roundRect">
            <a:avLst/>
          </a:prstGeom>
          <a:solidFill>
            <a:srgbClr val="4A90D9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IWM Branch</a:t>
            </a:r>
          </a:p>
        </p:txBody>
      </p:sp>
      <p:pic>
        <p:nvPicPr>
          <p:cNvPr id="29" name="Picture 28" descr="n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725" y="1396845"/>
            <a:ext cx="628650" cy="968684"/>
          </a:xfrm>
          <a:prstGeom prst="rect">
            <a:avLst/>
          </a:prstGeom>
        </p:spPr>
      </p:pic>
      <p:pic>
        <p:nvPicPr>
          <p:cNvPr id="30" name="Picture 29" descr="n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0775" y="571500"/>
            <a:ext cx="2687474" cy="98107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2706350" y="1590675"/>
            <a:ext cx="1066800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6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Reflection Dataset</a:t>
            </a:r>
            <a:br/>
            <a:r>
              <a:t>D_refl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287625" y="876300"/>
            <a:ext cx="647700" cy="361950"/>
          </a:xfrm>
          <a:prstGeom prst="roundRect">
            <a:avLst/>
          </a:prstGeom>
          <a:solidFill>
            <a:srgbClr val="E41A1C"/>
          </a:solidFill>
          <a:ln w="15875">
            <a:solidFill>
              <a:srgbClr val="A3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NLL</a:t>
            </a:r>
            <a:br/>
            <a:r>
              <a:t>Loss (IWM)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963775" y="2457450"/>
            <a:ext cx="1304925" cy="485775"/>
          </a:xfrm>
          <a:prstGeom prst="roundRect">
            <a:avLst/>
          </a:prstGeom>
          <a:solidFill>
            <a:srgbClr val="4A90D9"/>
          </a:solidFill>
          <a:ln w="22225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Joint IL Training</a:t>
            </a:r>
            <a:br/>
            <a:br/>
            <a:r>
              <a:t>predict a_i   |   predict c_i^j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640175" y="2514600"/>
            <a:ext cx="1066800" cy="361950"/>
          </a:xfrm>
          <a:prstGeom prst="roundRect">
            <a:avLst/>
          </a:prstGeom>
          <a:solidFill>
            <a:srgbClr val="4A90D9"/>
          </a:solidFill>
          <a:ln w="28575">
            <a:solidFill>
              <a:srgbClr val="1F3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Updated LLM Policy π</a:t>
            </a:r>
            <a:br/>
            <a:r>
              <a:t>(trained)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