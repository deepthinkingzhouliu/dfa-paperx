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2057400" y="1733550"/>
            <a:ext cx="809625" cy="204787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057400" y="1938337"/>
            <a:ext cx="419100" cy="61913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867025" y="1733550"/>
            <a:ext cx="809625" cy="195262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876800" y="1928812"/>
            <a:ext cx="428625" cy="4763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3257550" y="1928812"/>
            <a:ext cx="2466975" cy="71438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5305425" y="1928812"/>
            <a:ext cx="419100" cy="4763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838950" y="1928812"/>
            <a:ext cx="419100" cy="4763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6838950" y="1009650"/>
            <a:ext cx="933450" cy="919162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867025" y="1219200"/>
            <a:ext cx="6615112" cy="51435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5305425" y="1219200"/>
            <a:ext cx="4176712" cy="714375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0" y="1009650"/>
            <a:ext cx="1709737" cy="20955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267950" y="1657350"/>
            <a:ext cx="428625" cy="271462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991975" y="1928812"/>
            <a:ext cx="1209675" cy="4763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3201650" y="1004887"/>
            <a:ext cx="1676400" cy="928688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867025" y="1733550"/>
            <a:ext cx="6038850" cy="709612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77225" y="1933575"/>
            <a:ext cx="628650" cy="509587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72400" y="1009650"/>
            <a:ext cx="1133475" cy="1433512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0058400" y="1009650"/>
            <a:ext cx="1285875" cy="1433512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1344275" y="571500"/>
            <a:ext cx="1852612" cy="43815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314450" y="2352675"/>
            <a:ext cx="13930312" cy="238125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3196887" y="1447800"/>
            <a:ext cx="2047875" cy="114300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078200" y="2862262"/>
            <a:ext cx="428625" cy="4763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71500" y="1524000"/>
            <a:ext cx="1485900" cy="828675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B7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 i="0">
                <a:solidFill>
                  <a:srgbClr val="333333"/>
                </a:solidFill>
                <a:latin typeface="Arial"/>
              </a:defRPr>
            </a:pPr>
            <a:r>
              <a:t>Expert Dataset</a:t>
            </a:r>
            <a:br/>
            <a:r>
              <a:t>D_expert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76500" y="1876425"/>
            <a:ext cx="781050" cy="24765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FA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 i="0">
                <a:solidFill>
                  <a:srgbClr val="333333"/>
                </a:solidFill>
                <a:latin typeface="Arial"/>
              </a:defRPr>
            </a:pPr>
            <a:r>
              <a:t>Expert Action  a_i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76650" y="1724025"/>
            <a:ext cx="1200150" cy="409575"/>
          </a:xfrm>
          <a:prstGeom prst="roundRect">
            <a:avLst/>
          </a:prstGeom>
          <a:solidFill>
            <a:srgbClr val="4A90D9"/>
          </a:solidFill>
          <a:ln w="19050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Initial LLM Policy  π0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24525" y="1724025"/>
            <a:ext cx="1114425" cy="409575"/>
          </a:xfrm>
          <a:prstGeom prst="roundRect">
            <a:avLst/>
          </a:prstGeom>
          <a:solidFill>
            <a:srgbClr val="EEF5FF"/>
          </a:solidFill>
          <a:ln w="15875">
            <a:solidFill>
              <a:srgbClr val="8FB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 i="0">
                <a:solidFill>
                  <a:srgbClr val="333333"/>
                </a:solidFill>
                <a:latin typeface="Arial"/>
              </a:defRPr>
            </a:pPr>
            <a:r>
              <a:t>Environment</a:t>
            </a:r>
            <a:br/>
            <a:r>
              <a:t>Simulator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8050" y="1771650"/>
            <a:ext cx="1019175" cy="32385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FA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 i="0">
                <a:solidFill>
                  <a:srgbClr val="333333"/>
                </a:solidFill>
                <a:latin typeface="Arial"/>
              </a:defRPr>
            </a:pPr>
            <a:r>
              <a:t>Expert Next State</a:t>
            </a:r>
            <a:br/>
            <a:r>
              <a:t>s_{i+1}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96325" y="1219200"/>
            <a:ext cx="1571625" cy="87630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B7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 i="0">
                <a:solidFill>
                  <a:srgbClr val="333333"/>
                </a:solidFill>
                <a:latin typeface="Arial"/>
              </a:defRPr>
            </a:pPr>
            <a:r>
              <a:t>Rollout Triples</a:t>
            </a:r>
            <a:br/>
            <a:r>
              <a:t>D_rollout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05875" y="2238375"/>
            <a:ext cx="1152525" cy="409575"/>
          </a:xfrm>
          <a:prstGeom prst="roundRect">
            <a:avLst/>
          </a:prstGeom>
          <a:solidFill>
            <a:srgbClr val="8DA0CB"/>
          </a:solidFill>
          <a:ln w="17780">
            <a:solidFill>
              <a:srgbClr val="5B67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Self-Reflection</a:t>
            </a:r>
            <a:br/>
            <a:r>
              <a:t>(SR)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696575" y="1724025"/>
            <a:ext cx="1295400" cy="409575"/>
          </a:xfrm>
          <a:prstGeom prst="roundRect">
            <a:avLst/>
          </a:prstGeom>
          <a:solidFill>
            <a:srgbClr val="66C2A5"/>
          </a:solidFill>
          <a:ln w="17780">
            <a:solidFill>
              <a:srgbClr val="3A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Implicit World Modeling</a:t>
            </a:r>
            <a:br/>
            <a:r>
              <a:t>(IWM)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411075" y="571500"/>
            <a:ext cx="1571625" cy="87630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B7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 i="0">
                <a:solidFill>
                  <a:srgbClr val="333333"/>
                </a:solidFill>
                <a:latin typeface="Arial"/>
              </a:defRPr>
            </a:pPr>
            <a:r>
              <a:t>Reflection Dataset</a:t>
            </a:r>
            <a:br/>
            <a:r>
              <a:t>D_refl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878050" y="819150"/>
            <a:ext cx="742950" cy="371475"/>
          </a:xfrm>
          <a:prstGeom prst="roundRect">
            <a:avLst/>
          </a:prstGeom>
          <a:solidFill>
            <a:srgbClr val="FC8D62"/>
          </a:solidFill>
          <a:ln w="15875">
            <a:solidFill>
              <a:srgbClr val="B85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ℒ_NLL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411325" y="2590800"/>
            <a:ext cx="1666875" cy="552450"/>
          </a:xfrm>
          <a:prstGeom prst="roundRect">
            <a:avLst/>
          </a:prstGeom>
          <a:solidFill>
            <a:srgbClr val="4A90D9"/>
          </a:solidFill>
          <a:ln w="25400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Joint Training</a:t>
            </a:r>
            <a:br/>
            <a:r>
              <a:t>(IL + SR)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6506825" y="2657475"/>
            <a:ext cx="1200150" cy="409575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 i="0">
                <a:solidFill>
                  <a:srgbClr val="333333"/>
                </a:solidFill>
                <a:latin typeface="Arial"/>
              </a:defRPr>
            </a:pPr>
            <a:r>
              <a:t>Updated LLM Policy  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