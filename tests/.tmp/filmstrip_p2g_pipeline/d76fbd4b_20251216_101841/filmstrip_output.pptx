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219325" y="2281237"/>
            <a:ext cx="581025" cy="4763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324350" y="2286000"/>
            <a:ext cx="581025" cy="0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905375" y="2286000"/>
            <a:ext cx="571500" cy="0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395412" y="2000250"/>
            <a:ext cx="4905375" cy="723900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124700" y="2286000"/>
            <a:ext cx="581025" cy="0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300787" y="1009650"/>
            <a:ext cx="1404938" cy="1562100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705725" y="1009650"/>
            <a:ext cx="571500" cy="4762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925050" y="1009650"/>
            <a:ext cx="581025" cy="4762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287250" y="1009650"/>
            <a:ext cx="771525" cy="0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705725" y="1971675"/>
            <a:ext cx="1395412" cy="314325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05725" y="1009650"/>
            <a:ext cx="1395412" cy="962025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925050" y="2286000"/>
            <a:ext cx="1476375" cy="0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1401425" y="2281237"/>
            <a:ext cx="1466850" cy="4763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395412" y="1905000"/>
            <a:ext cx="14720888" cy="819150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516100" y="2281237"/>
            <a:ext cx="581025" cy="4763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7135475" y="2286000"/>
            <a:ext cx="581025" cy="0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71500" y="1838325"/>
            <a:ext cx="1647825" cy="885825"/>
          </a:xfrm>
          <a:prstGeom prst="roundRect">
            <a:avLst/>
          </a:prstGeom>
          <a:solidFill>
            <a:srgbClr val="EAF2FB"/>
          </a:solidFill>
          <a:ln w="19050">
            <a:solidFill>
              <a:srgbClr val="2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 i="0">
                <a:solidFill>
                  <a:srgbClr val="333333"/>
                </a:solidFill>
                <a:latin typeface="Arial"/>
              </a:defRPr>
            </a:pPr>
            <a:r>
              <a:t>Expert Dataset</a:t>
            </a:r>
            <a:br/>
            <a:r>
              <a:t>D_expert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00350" y="2000250"/>
            <a:ext cx="1524000" cy="571500"/>
          </a:xfrm>
          <a:prstGeom prst="roundRect">
            <a:avLst/>
          </a:prstGeom>
          <a:solidFill>
            <a:srgbClr val="4A90D9"/>
          </a:solidFill>
          <a:ln w="19050">
            <a:solidFill>
              <a:srgbClr val="2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Initial LLM Policy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76875" y="2000250"/>
            <a:ext cx="1647825" cy="571500"/>
          </a:xfrm>
          <a:prstGeom prst="roundRect">
            <a:avLst/>
          </a:prstGeom>
          <a:solidFill>
            <a:srgbClr val="66C2A5"/>
          </a:solidFill>
          <a:ln w="19050">
            <a:solidFill>
              <a:srgbClr val="3A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Environment Rollout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7225" y="571500"/>
            <a:ext cx="1647825" cy="885825"/>
          </a:xfrm>
          <a:prstGeom prst="roundRect">
            <a:avLst/>
          </a:prstGeom>
          <a:solidFill>
            <a:srgbClr val="EAF2FB"/>
          </a:solidFill>
          <a:ln w="19050">
            <a:solidFill>
              <a:srgbClr val="2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 i="0">
                <a:solidFill>
                  <a:srgbClr val="333333"/>
                </a:solidFill>
                <a:latin typeface="Arial"/>
              </a:defRPr>
            </a:pPr>
            <a:r>
              <a:t>Rollout Triples</a:t>
            </a:r>
            <a:br/>
            <a:r>
              <a:t>D_rollout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7225" y="1971675"/>
            <a:ext cx="1647825" cy="628650"/>
          </a:xfrm>
          <a:prstGeom prst="roundRect">
            <a:avLst/>
          </a:prstGeom>
          <a:solidFill>
            <a:srgbClr val="4A90D9"/>
          </a:solidFill>
          <a:ln w="19050">
            <a:solidFill>
              <a:srgbClr val="2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Self-Reflection (SR)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06075" y="695325"/>
            <a:ext cx="1781175" cy="628650"/>
          </a:xfrm>
          <a:prstGeom prst="roundRect">
            <a:avLst/>
          </a:prstGeom>
          <a:solidFill>
            <a:srgbClr val="8DA0CB"/>
          </a:solidFill>
          <a:ln w="19050">
            <a:solidFill>
              <a:srgbClr val="5F6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Implicit World Modeling</a:t>
            </a:r>
            <a:br/>
            <a:r>
              <a:t>(IWM)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058775" y="723900"/>
            <a:ext cx="1266825" cy="5715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5F6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 i="0">
                <a:solidFill>
                  <a:srgbClr val="333333"/>
                </a:solidFill>
                <a:latin typeface="Arial"/>
              </a:defRPr>
            </a:pPr>
            <a:r>
              <a:t>NLL Loss (IWM)</a:t>
            </a:r>
            <a:br/>
            <a:r>
              <a:t>−log p(·) 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868275" y="1838325"/>
            <a:ext cx="1647825" cy="885825"/>
          </a:xfrm>
          <a:prstGeom prst="roundRect">
            <a:avLst/>
          </a:prstGeom>
          <a:solidFill>
            <a:srgbClr val="FFF2E9"/>
          </a:solidFill>
          <a:ln w="19050">
            <a:solidFill>
              <a:srgbClr val="C65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 i="0">
                <a:solidFill>
                  <a:srgbClr val="333333"/>
                </a:solidFill>
                <a:latin typeface="Arial"/>
              </a:defRPr>
            </a:pPr>
            <a:r>
              <a:t>Reflection Dataset</a:t>
            </a:r>
            <a:br/>
            <a:r>
              <a:t>D_refl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097125" y="1905000"/>
            <a:ext cx="2038350" cy="762000"/>
          </a:xfrm>
          <a:prstGeom prst="roundRect">
            <a:avLst/>
          </a:prstGeom>
          <a:solidFill>
            <a:srgbClr val="FC8D62"/>
          </a:solidFill>
          <a:ln w="22225">
            <a:solidFill>
              <a:srgbClr val="C65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Joint Policy Training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